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0" r:id="rId4"/>
    <p:sldId id="271" r:id="rId5"/>
    <p:sldId id="269" r:id="rId6"/>
    <p:sldId id="272" r:id="rId7"/>
    <p:sldId id="273" r:id="rId8"/>
    <p:sldId id="274" r:id="rId9"/>
    <p:sldId id="27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0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32" y="4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D2F02-954B-485F-962B-732FE9D2689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5C468-2E31-4693-B642-7CEA6EE4F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5C468-2E31-4693-B642-7CEA6EE4F7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62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B7848-B100-44C7-B959-77F24C6178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0F33A-0BAA-4F6D-9A13-193B577B41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931EE-CA53-6962-0769-3B83B6E0048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359275" y="635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4A569E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ICU Mortality Prediction Modelling using MIMIC-III database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</a:t>
            </a:r>
            <a:r>
              <a:rPr lang="hu-HU" dirty="0">
                <a:solidFill>
                  <a:schemeClr val="bg1"/>
                </a:solidFill>
              </a:rPr>
              <a:t>ános Kondri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Source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MIMIC-III Database Demo – 4 tables retrieved</a:t>
            </a:r>
          </a:p>
          <a:p>
            <a:pPr lvl="1"/>
            <a:r>
              <a:rPr lang="en-US" i="1" dirty="0">
                <a:solidFill>
                  <a:schemeClr val="bg1"/>
                </a:solidFill>
              </a:rPr>
              <a:t>ADMISSIONS, PATIENTS, ICUSTAYS, LABEVENTS</a:t>
            </a:r>
          </a:p>
          <a:p>
            <a:r>
              <a:rPr lang="en-US" dirty="0">
                <a:solidFill>
                  <a:schemeClr val="bg1"/>
                </a:solidFill>
              </a:rPr>
              <a:t>Raw data: 129 admissions = &gt; 100 patients</a:t>
            </a:r>
          </a:p>
          <a:p>
            <a:r>
              <a:rPr lang="en-US" dirty="0">
                <a:solidFill>
                  <a:schemeClr val="bg1"/>
                </a:solidFill>
              </a:rPr>
              <a:t>Inclusion criteria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Age data available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Lactate recorded within first 24 hours of ICU admission</a:t>
            </a:r>
          </a:p>
          <a:p>
            <a:r>
              <a:rPr lang="en-US" dirty="0">
                <a:solidFill>
                  <a:schemeClr val="bg1"/>
                </a:solidFill>
              </a:rPr>
              <a:t>69 patients remained after exclusion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C2600-F1DE-D9DF-512D-D60EE771A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0B24-1DE3-0648-55EA-36E0AA3F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Predictor Variables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2B237F2-F575-1811-5BF1-996B78CF65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2905895"/>
          <a:ext cx="7861301" cy="1607641"/>
        </p:xfrm>
        <a:graphic>
          <a:graphicData uri="http://schemas.openxmlformats.org/drawingml/2006/table">
            <a:tbl>
              <a:tblPr/>
              <a:tblGrid>
                <a:gridCol w="1680380">
                  <a:extLst>
                    <a:ext uri="{9D8B030D-6E8A-4147-A177-3AD203B41FA5}">
                      <a16:colId xmlns:a16="http://schemas.microsoft.com/office/drawing/2014/main" val="1207402426"/>
                    </a:ext>
                  </a:extLst>
                </a:gridCol>
                <a:gridCol w="2211656">
                  <a:extLst>
                    <a:ext uri="{9D8B030D-6E8A-4147-A177-3AD203B41FA5}">
                      <a16:colId xmlns:a16="http://schemas.microsoft.com/office/drawing/2014/main" val="461031248"/>
                    </a:ext>
                  </a:extLst>
                </a:gridCol>
                <a:gridCol w="1015952">
                  <a:extLst>
                    <a:ext uri="{9D8B030D-6E8A-4147-A177-3AD203B41FA5}">
                      <a16:colId xmlns:a16="http://schemas.microsoft.com/office/drawing/2014/main" val="3012793176"/>
                    </a:ext>
                  </a:extLst>
                </a:gridCol>
                <a:gridCol w="2953313">
                  <a:extLst>
                    <a:ext uri="{9D8B030D-6E8A-4147-A177-3AD203B41FA5}">
                      <a16:colId xmlns:a16="http://schemas.microsoft.com/office/drawing/2014/main" val="3113456518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</a:rPr>
                        <a:t>Data Type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</a:rPr>
                        <a:t>Rationale for use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22568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Date of Birth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[PATIENTS](DOB)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Datetime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Calculating age at the time of hospitalization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49007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Serum Lactate Measurement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[LABEVENTS](LABEVENTS) - &gt; </a:t>
                      </a:r>
                      <a:r>
                        <a:rPr lang="en-US" sz="1400" i="1" dirty="0" err="1">
                          <a:effectLst/>
                          <a:latin typeface="Calibri" panose="020F0502020204030204" pitchFamily="34" charset="0"/>
                        </a:rPr>
                        <a:t>itemid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 50813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Numerical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Lactate level has been connected to mortality in ill patients within clinical settings</a:t>
                      </a:r>
                    </a:p>
                  </a:txBody>
                  <a:tcPr marL="26581" marR="26581" marT="26581" marB="2658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6546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986008-9C31-1125-30F5-9DD52C0BCE9E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5307703"/>
          <a:ext cx="7861302" cy="1145699"/>
        </p:xfrm>
        <a:graphic>
          <a:graphicData uri="http://schemas.openxmlformats.org/drawingml/2006/table">
            <a:tbl>
              <a:tblPr/>
              <a:tblGrid>
                <a:gridCol w="1048275">
                  <a:extLst>
                    <a:ext uri="{9D8B030D-6E8A-4147-A177-3AD203B41FA5}">
                      <a16:colId xmlns:a16="http://schemas.microsoft.com/office/drawing/2014/main" val="1699800659"/>
                    </a:ext>
                  </a:extLst>
                </a:gridCol>
                <a:gridCol w="2096112">
                  <a:extLst>
                    <a:ext uri="{9D8B030D-6E8A-4147-A177-3AD203B41FA5}">
                      <a16:colId xmlns:a16="http://schemas.microsoft.com/office/drawing/2014/main" val="2552900042"/>
                    </a:ext>
                  </a:extLst>
                </a:gridCol>
                <a:gridCol w="1985860">
                  <a:extLst>
                    <a:ext uri="{9D8B030D-6E8A-4147-A177-3AD203B41FA5}">
                      <a16:colId xmlns:a16="http://schemas.microsoft.com/office/drawing/2014/main" val="3899779787"/>
                    </a:ext>
                  </a:extLst>
                </a:gridCol>
                <a:gridCol w="2731055">
                  <a:extLst>
                    <a:ext uri="{9D8B030D-6E8A-4147-A177-3AD203B41FA5}">
                      <a16:colId xmlns:a16="http://schemas.microsoft.com/office/drawing/2014/main" val="2940585471"/>
                    </a:ext>
                  </a:extLst>
                </a:gridCol>
              </a:tblGrid>
              <a:tr h="307499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</a:rPr>
                        <a:t>Data Type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</a:rPr>
                        <a:t>Rationale for use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140265"/>
                  </a:ext>
                </a:extLst>
              </a:tr>
              <a:tr h="830739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Mortality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[ADMISSIONS](HOSPITAL_EXPIRE_FLAG)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Boolean Value (represented as 0 or 1)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Mortality represents if death occurred or not during hospitalization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5485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D1E9613-0292-B8B3-01F9-29DE3022BC02}"/>
              </a:ext>
            </a:extLst>
          </p:cNvPr>
          <p:cNvSpPr txBox="1"/>
          <p:nvPr/>
        </p:nvSpPr>
        <p:spPr>
          <a:xfrm>
            <a:off x="838199" y="480793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</a:rPr>
              <a:t>Outcome Variable</a:t>
            </a:r>
            <a:endParaRPr lang="en-US" sz="2400" b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75A17B-F23D-F404-716A-BAEA6F2BD626}"/>
              </a:ext>
            </a:extLst>
          </p:cNvPr>
          <p:cNvSpPr txBox="1"/>
          <p:nvPr/>
        </p:nvSpPr>
        <p:spPr>
          <a:xfrm>
            <a:off x="838199" y="238066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</a:rPr>
              <a:t>Predictor Variables</a:t>
            </a:r>
            <a:endParaRPr lang="en-US" sz="2400" b="1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E1D3E-E71B-92AA-EAD5-865A13D23D7E}"/>
              </a:ext>
            </a:extLst>
          </p:cNvPr>
          <p:cNvSpPr txBox="1"/>
          <p:nvPr/>
        </p:nvSpPr>
        <p:spPr>
          <a:xfrm>
            <a:off x="838199" y="1550583"/>
            <a:ext cx="8013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Mortality prediction was chosen due to ease of interpretation for outcome, as well as neat application to ICU function as KPI (e.g.: number of deaths)</a:t>
            </a:r>
          </a:p>
        </p:txBody>
      </p:sp>
    </p:spTree>
    <p:extLst>
      <p:ext uri="{BB962C8B-B14F-4D97-AF65-F5344CB8AC3E}">
        <p14:creationId xmlns:p14="http://schemas.microsoft.com/office/powerpoint/2010/main" val="1753809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09FD6-91D7-7156-9EAE-AB60F802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BDA2-B1A9-C664-A9A4-2940BEEA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50FD9-4ED3-1D13-BF6E-F6B6488F4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Algorithm: Binomial logistic regression [</a:t>
            </a:r>
            <a:r>
              <a:rPr lang="en-US" dirty="0" err="1">
                <a:solidFill>
                  <a:schemeClr val="bg1"/>
                </a:solidFill>
              </a:rPr>
              <a:t>glm</a:t>
            </a:r>
            <a:r>
              <a:rPr lang="en-US" dirty="0">
                <a:solidFill>
                  <a:schemeClr val="bg1"/>
                </a:solidFill>
              </a:rPr>
              <a:t>() function]</a:t>
            </a:r>
          </a:p>
          <a:p>
            <a:r>
              <a:rPr lang="en-US" dirty="0">
                <a:solidFill>
                  <a:schemeClr val="bg1"/>
                </a:solidFill>
              </a:rPr>
              <a:t>Formula: </a:t>
            </a:r>
            <a:r>
              <a:rPr lang="en-US" dirty="0" err="1">
                <a:solidFill>
                  <a:schemeClr val="bg1"/>
                </a:solidFill>
              </a:rPr>
              <a:t>hospital_expire_flag</a:t>
            </a:r>
            <a:r>
              <a:rPr lang="en-US" dirty="0">
                <a:solidFill>
                  <a:schemeClr val="bg1"/>
                </a:solidFill>
              </a:rPr>
              <a:t> ~ lactate + age</a:t>
            </a:r>
          </a:p>
          <a:p>
            <a:r>
              <a:rPr lang="en-US" dirty="0">
                <a:solidFill>
                  <a:schemeClr val="bg1"/>
                </a:solidFill>
              </a:rPr>
              <a:t>Training/Testing data: 70/30 split</a:t>
            </a:r>
          </a:p>
        </p:txBody>
      </p:sp>
    </p:spTree>
    <p:extLst>
      <p:ext uri="{BB962C8B-B14F-4D97-AF65-F5344CB8AC3E}">
        <p14:creationId xmlns:p14="http://schemas.microsoft.com/office/powerpoint/2010/main" val="1219114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CEB46-4B33-C61A-D874-BDB36AA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4BF99EBE-987F-5BC4-548A-D8F687602B45}"/>
              </a:ext>
            </a:extLst>
          </p:cNvPr>
          <p:cNvSpPr/>
          <p:nvPr/>
        </p:nvSpPr>
        <p:spPr>
          <a:xfrm>
            <a:off x="228600" y="2286000"/>
            <a:ext cx="2971800" cy="1828800"/>
          </a:xfrm>
          <a:prstGeom prst="homePlate">
            <a:avLst/>
          </a:prstGeom>
          <a:solidFill>
            <a:srgbClr val="2300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68087-6D84-BA3D-C93A-F6EA1E11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667000"/>
            <a:ext cx="2514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Processing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Pipeline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7546FD52-8539-09FF-25D0-D6EB5F991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6215" y="38100"/>
            <a:ext cx="5965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3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60049-BD20-5223-1AD6-86008AA5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8410-090C-1652-1EC4-29704546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Performance Metrics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36C6FF-0FEC-9341-7F78-CDDB12E9465A}"/>
              </a:ext>
            </a:extLst>
          </p:cNvPr>
          <p:cNvSpPr txBox="1"/>
          <p:nvPr/>
        </p:nvSpPr>
        <p:spPr>
          <a:xfrm>
            <a:off x="304800" y="1981200"/>
            <a:ext cx="8153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Predictor significance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chemeClr val="bg1"/>
                </a:solidFill>
              </a:rPr>
              <a:t>Lactate:</a:t>
            </a:r>
            <a:r>
              <a:rPr lang="en-US" sz="2000" dirty="0">
                <a:solidFill>
                  <a:schemeClr val="bg1"/>
                </a:solidFill>
              </a:rPr>
              <a:t> estimate 0.93, p = 0.009 — statistically significant </a:t>
            </a:r>
            <a:r>
              <a:rPr lang="en-US" sz="2000" b="1" dirty="0">
                <a:solidFill>
                  <a:schemeClr val="bg1"/>
                </a:solidFill>
              </a:rPr>
              <a:t>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chemeClr val="bg1"/>
                </a:solidFill>
              </a:rPr>
              <a:t>Age</a:t>
            </a:r>
            <a:r>
              <a:rPr lang="en-US" sz="2000" b="1" u="sng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estimate 0.007, p = 0.586 — not statistically significant </a:t>
            </a:r>
            <a:r>
              <a:rPr lang="en-US" sz="2000" b="1" dirty="0">
                <a:solidFill>
                  <a:schemeClr val="bg1"/>
                </a:solidFill>
              </a:rPr>
              <a:t>✗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Model fit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Null deviance: 56.77 → Residual deviance: 41.19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Reduction of 15.6 points — meaningful improvement over null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Discrimination (AUC = &gt; Area Under the Curve)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Training AUC: 79.4% — acceptable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Testing AUC: 59.1% — poor </a:t>
            </a:r>
            <a:r>
              <a:rPr lang="en-US" sz="2000" dirty="0" err="1">
                <a:solidFill>
                  <a:schemeClr val="bg1"/>
                </a:solidFill>
              </a:rPr>
              <a:t>generalisation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20.3% gap indicates overfitting</a:t>
            </a:r>
          </a:p>
        </p:txBody>
      </p:sp>
    </p:spTree>
    <p:extLst>
      <p:ext uri="{BB962C8B-B14F-4D97-AF65-F5344CB8AC3E}">
        <p14:creationId xmlns:p14="http://schemas.microsoft.com/office/powerpoint/2010/main" val="304285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2A21B-8048-90A6-FE86-B3795507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AB69-1E43-0EE0-91F5-B90FF0BA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Performance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47594-DF83-CB91-2CB3-C82418629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79" y="1345626"/>
            <a:ext cx="4275221" cy="2580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331E6A-377C-31A2-E306-27CE63983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926305"/>
            <a:ext cx="4487937" cy="270908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8AE177B-808F-2EB0-8255-F005884AE9F5}"/>
              </a:ext>
            </a:extLst>
          </p:cNvPr>
          <p:cNvSpPr txBox="1">
            <a:spLocks/>
          </p:cNvSpPr>
          <p:nvPr/>
        </p:nvSpPr>
        <p:spPr>
          <a:xfrm>
            <a:off x="4684297" y="1661575"/>
            <a:ext cx="4114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chemeClr val="bg1"/>
                </a:solidFill>
              </a:rPr>
              <a:t>Training AUC: </a:t>
            </a:r>
          </a:p>
          <a:p>
            <a:pPr algn="l"/>
            <a:r>
              <a:rPr lang="en-US" sz="2400" b="1" u="sng" dirty="0">
                <a:solidFill>
                  <a:schemeClr val="bg1"/>
                </a:solidFill>
              </a:rPr>
              <a:t>79.4%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52D758-0669-D1A7-FF92-184E9BE7C1BF}"/>
              </a:ext>
            </a:extLst>
          </p:cNvPr>
          <p:cNvSpPr txBox="1">
            <a:spLocks/>
          </p:cNvSpPr>
          <p:nvPr/>
        </p:nvSpPr>
        <p:spPr>
          <a:xfrm>
            <a:off x="-20211" y="4800600"/>
            <a:ext cx="427522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dirty="0">
                <a:solidFill>
                  <a:schemeClr val="bg1"/>
                </a:solidFill>
              </a:rPr>
              <a:t>Testing AUC:</a:t>
            </a:r>
          </a:p>
          <a:p>
            <a:pPr algn="r"/>
            <a:r>
              <a:rPr lang="en-US" sz="2400" b="1" u="sng" dirty="0">
                <a:solidFill>
                  <a:schemeClr val="bg1"/>
                </a:solidFill>
              </a:rPr>
              <a:t>59.1%</a:t>
            </a:r>
          </a:p>
        </p:txBody>
      </p:sp>
    </p:spTree>
    <p:extLst>
      <p:ext uri="{BB962C8B-B14F-4D97-AF65-F5344CB8AC3E}">
        <p14:creationId xmlns:p14="http://schemas.microsoft.com/office/powerpoint/2010/main" val="360108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0F34D-AF98-955E-FD6B-4F49F245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9E7B-EDB5-8AEF-A18D-6ACDEA94A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Discussion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BE27B-AA80-74C3-08FA-835DCBA666E6}"/>
              </a:ext>
            </a:extLst>
          </p:cNvPr>
          <p:cNvSpPr txBox="1"/>
          <p:nvPr/>
        </p:nvSpPr>
        <p:spPr>
          <a:xfrm>
            <a:off x="316832" y="1981200"/>
            <a:ext cx="81534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Current model is </a:t>
            </a:r>
            <a:r>
              <a:rPr lang="en-US" sz="2000" b="1" dirty="0">
                <a:solidFill>
                  <a:schemeClr val="bg1"/>
                </a:solidFill>
              </a:rPr>
              <a:t>flawed, </a:t>
            </a:r>
            <a:r>
              <a:rPr lang="en-US" sz="2000" dirty="0">
                <a:solidFill>
                  <a:schemeClr val="bg1"/>
                </a:solidFill>
              </a:rPr>
              <a:t>not suitable for clinical use due to poorer mortality (AUC value) within the testing dataset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Lactate serum level plays significant role in Mortality prediction (p &lt; 0.05), while Age did not (p &gt; 0.05)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Low sample size for training and testing population for the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Model prone to overfitting within non-training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70/30 split for training split is simple and has limitations in </a:t>
            </a:r>
            <a:r>
              <a:rPr lang="en-US" sz="2000" dirty="0" err="1">
                <a:solidFill>
                  <a:schemeClr val="bg1"/>
                </a:solidFill>
              </a:rPr>
              <a:t>reproducability</a:t>
            </a:r>
            <a:r>
              <a:rPr lang="en-US" sz="2000" dirty="0">
                <a:solidFill>
                  <a:schemeClr val="bg1"/>
                </a:solidFill>
              </a:rPr>
              <a:t> and AUC estimation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758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C3091-16C6-C870-B3EE-E8DE6D0FE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FFE8-B605-FA09-3BB1-9EE6E1D11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Reflections &amp; Takeaways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3BB143-80CC-FB3D-D02E-CCC657E847BB}"/>
              </a:ext>
            </a:extLst>
          </p:cNvPr>
          <p:cNvSpPr txBox="1"/>
          <p:nvPr/>
        </p:nvSpPr>
        <p:spPr>
          <a:xfrm>
            <a:off x="316832" y="1752600"/>
            <a:ext cx="882716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Serum lactate level found to be suitable predictor, as literature also suggests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Modelling pipeline was implemented in a clean and reproducible manner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Initial training metrics indicate good prediction model for mortality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Single data for testing from the MIMIC-III dataset demo limits the data population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Further refinement would be needed for mortality prediction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Possible testing and implementation of other prediction variables for more robust predictions</a:t>
            </a:r>
          </a:p>
        </p:txBody>
      </p:sp>
    </p:spTree>
    <p:extLst>
      <p:ext uri="{BB962C8B-B14F-4D97-AF65-F5344CB8AC3E}">
        <p14:creationId xmlns:p14="http://schemas.microsoft.com/office/powerpoint/2010/main" val="3546467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e3dcb88-8425-4e1d-b1a3-bd5572915bbc}" enabled="1" method="Privileged" siteId="{aca3c8d6-aa71-4e1a-a10e-03572fc58c0b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458</Words>
  <Application>Microsoft Office PowerPoint</Application>
  <PresentationFormat>On-screen Show (4:3)</PresentationFormat>
  <Paragraphs>76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ICU Mortality Prediction Modelling using MIMIC-III database</vt:lpstr>
      <vt:lpstr>Source Dataset</vt:lpstr>
      <vt:lpstr>Predictor Variables</vt:lpstr>
      <vt:lpstr>Model Choice</vt:lpstr>
      <vt:lpstr>Processing  Pipeline</vt:lpstr>
      <vt:lpstr>Model Performance Metrics</vt:lpstr>
      <vt:lpstr>Model Performance Metrics</vt:lpstr>
      <vt:lpstr>Model Discussion</vt:lpstr>
      <vt:lpstr>Reflections &amp;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ICU Mortality Prediction using Age and ICU Admission Serum Lactate</dc:title>
  <dc:creator>ICU_3_DOC</dc:creator>
  <cp:lastModifiedBy>Kondri, Janos /HU</cp:lastModifiedBy>
  <cp:revision>12</cp:revision>
  <dcterms:created xsi:type="dcterms:W3CDTF">2022-11-11T06:33:03Z</dcterms:created>
  <dcterms:modified xsi:type="dcterms:W3CDTF">2026-03-25T13:01:12Z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Internal</vt:lpwstr>
  </property>
</Properties>
</file>