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56" r:id="rId3"/>
    <p:sldId id="257" r:id="rId4"/>
    <p:sldId id="258" r:id="rId5"/>
    <p:sldId id="267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85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7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8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8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9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75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0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77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6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87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5586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38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68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3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82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6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19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D553-22D6-F64B-9770-68EE25A655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Observation Peer Review Assignment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47B27-CF00-B34C-A3F4-789D5019D0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Janos Kondri</a:t>
            </a:r>
          </a:p>
        </p:txBody>
      </p:sp>
    </p:spTree>
    <p:extLst>
      <p:ext uri="{BB962C8B-B14F-4D97-AF65-F5344CB8AC3E}">
        <p14:creationId xmlns:p14="http://schemas.microsoft.com/office/powerpoint/2010/main" val="27585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Specialty Coffee Shop (</a:t>
            </a:r>
            <a:r>
              <a:rPr lang="en-US" dirty="0"/>
              <a:t>Kitsune Japanese Caffee</a:t>
            </a:r>
            <a:r>
              <a:rPr dirty="0"/>
              <a:t>)</a:t>
            </a:r>
            <a:r>
              <a:rPr lang="en-US" dirty="0"/>
              <a:t> located near </a:t>
            </a:r>
            <a:r>
              <a:rPr lang="en-US" dirty="0" err="1"/>
              <a:t>Nagyvarad</a:t>
            </a:r>
            <a:r>
              <a:rPr lang="en-US" dirty="0"/>
              <a:t> Square</a:t>
            </a:r>
            <a:endParaRPr dirty="0"/>
          </a:p>
          <a:p>
            <a:r>
              <a:rPr dirty="0"/>
              <a:t>Time: </a:t>
            </a:r>
            <a:r>
              <a:rPr lang="en-US" dirty="0"/>
              <a:t>8</a:t>
            </a:r>
            <a:r>
              <a:rPr dirty="0"/>
              <a:t>:30–</a:t>
            </a:r>
            <a:r>
              <a:rPr lang="en-US" dirty="0"/>
              <a:t>9</a:t>
            </a:r>
            <a:r>
              <a:rPr dirty="0"/>
              <a:t>:00, weekday</a:t>
            </a:r>
          </a:p>
          <a:p>
            <a:r>
              <a:rPr dirty="0"/>
              <a:t>30-minute observation</a:t>
            </a:r>
          </a:p>
          <a:p>
            <a:r>
              <a:rPr dirty="0"/>
              <a:t>1</a:t>
            </a:r>
            <a:r>
              <a:rPr lang="en-US" dirty="0"/>
              <a:t>6</a:t>
            </a:r>
            <a:r>
              <a:rPr dirty="0"/>
              <a:t> customers total (</a:t>
            </a:r>
            <a:r>
              <a:rPr lang="it-IT" dirty="0"/>
              <a:t>6 ordered for here, 10 for takeaway)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2 </a:t>
            </a:r>
            <a:r>
              <a:rPr dirty="0"/>
              <a:t>Cashier</a:t>
            </a:r>
            <a:r>
              <a:rPr lang="en-US" dirty="0"/>
              <a:t>s</a:t>
            </a:r>
            <a:r>
              <a:rPr dirty="0"/>
              <a:t> – </a:t>
            </a:r>
            <a:r>
              <a:rPr lang="en-US" dirty="0"/>
              <a:t>Interacting with customers by taking orders &amp; </a:t>
            </a:r>
            <a:r>
              <a:rPr dirty="0"/>
              <a:t>process</a:t>
            </a:r>
            <a:r>
              <a:rPr lang="en-US" dirty="0"/>
              <a:t>ing</a:t>
            </a:r>
            <a:r>
              <a:rPr dirty="0"/>
              <a:t> payments</a:t>
            </a:r>
          </a:p>
          <a:p>
            <a:r>
              <a:rPr lang="en-US" dirty="0"/>
              <a:t>2 </a:t>
            </a:r>
            <a:r>
              <a:rPr dirty="0"/>
              <a:t>Barista</a:t>
            </a:r>
            <a:r>
              <a:rPr lang="en-US" dirty="0"/>
              <a:t>s</a:t>
            </a:r>
            <a:r>
              <a:rPr dirty="0"/>
              <a:t> – </a:t>
            </a:r>
            <a:r>
              <a:rPr lang="en-US" dirty="0"/>
              <a:t>Interacting with cashiers to prepare orders of customers as well as deliver them</a:t>
            </a:r>
          </a:p>
          <a:p>
            <a:r>
              <a:rPr lang="en-US" dirty="0"/>
              <a:t>Manager – Manages additional tasks within the business, during </a:t>
            </a:r>
            <a:r>
              <a:rPr lang="en-US" dirty="0" err="1"/>
              <a:t>rushours</a:t>
            </a:r>
            <a:r>
              <a:rPr lang="en-US" dirty="0"/>
              <a:t> performs additional barista role.</a:t>
            </a:r>
          </a:p>
          <a:p>
            <a:r>
              <a:rPr lang="en-US" dirty="0"/>
              <a:t>Customers – All interact with the cashiers and/or manager to place orders, either takeaway or for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6" y="2155371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Location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84BA84-2B02-238A-BC7F-E7F73B08BF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26"/>
          <a:stretch>
            <a:fillRect/>
          </a:stretch>
        </p:blipFill>
        <p:spPr>
          <a:xfrm>
            <a:off x="3561347" y="1"/>
            <a:ext cx="5732499" cy="70789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5F15C-5F69-F79D-291B-08D69FC35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A0A2-F0ED-6553-B88A-F00210E73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Location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1C8D0-EF89-053E-8FDD-3770E99E5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987" y="772209"/>
            <a:ext cx="5085525" cy="531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technology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Cash registers function all electronically with cash option available. Equipped with contactless card payment</a:t>
            </a:r>
            <a:endParaRPr dirty="0"/>
          </a:p>
          <a:p>
            <a:r>
              <a:rPr lang="en-US" dirty="0"/>
              <a:t>Paper/pencil - &gt; Orders are processed and given to baristas via paper receipts</a:t>
            </a:r>
          </a:p>
          <a:p>
            <a:r>
              <a:rPr lang="en-US" dirty="0"/>
              <a:t>Coffee </a:t>
            </a:r>
            <a:r>
              <a:rPr dirty="0"/>
              <a:t>machines, grinders, milk </a:t>
            </a:r>
            <a:r>
              <a:rPr dirty="0" err="1"/>
              <a:t>frothers</a:t>
            </a:r>
            <a:endParaRPr lang="en-US" dirty="0"/>
          </a:p>
          <a:p>
            <a:r>
              <a:rPr lang="en-US" dirty="0"/>
              <a:t>Cooled display cabinet for desserts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– Ordering a Drink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Customer enters and joins queue</a:t>
            </a:r>
          </a:p>
          <a:p>
            <a:r>
              <a:rPr dirty="0"/>
              <a:t>2. Reviews menu board</a:t>
            </a:r>
          </a:p>
          <a:p>
            <a:r>
              <a:rPr dirty="0"/>
              <a:t>3. Orders at cashier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Includes choice of coffee, and if order is consumed here or for takeaway</a:t>
            </a:r>
            <a:endParaRPr dirty="0"/>
          </a:p>
          <a:p>
            <a:r>
              <a:rPr dirty="0"/>
              <a:t>4. Payment processed electronically</a:t>
            </a:r>
            <a:r>
              <a:rPr lang="en-US" dirty="0"/>
              <a:t> or by cash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– Ordering a Drink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5. Order</a:t>
            </a:r>
            <a:r>
              <a:rPr lang="en-US" dirty="0"/>
              <a:t> handed over to barista from cashier via paper receipt</a:t>
            </a:r>
            <a:endParaRPr dirty="0"/>
          </a:p>
          <a:p>
            <a:r>
              <a:rPr dirty="0"/>
              <a:t>6. Barista grinds coffee, prepares drink</a:t>
            </a:r>
          </a:p>
          <a:p>
            <a:r>
              <a:rPr dirty="0"/>
              <a:t>7. Drink placed at pickup counter</a:t>
            </a:r>
          </a:p>
          <a:p>
            <a:r>
              <a:rPr dirty="0"/>
              <a:t>8. Customer retrieves drink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Challenges</a:t>
            </a:r>
            <a:r>
              <a:rPr lang="en-US" dirty="0"/>
              <a:t> Observed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Queue occasionally blocks seating access</a:t>
            </a:r>
          </a:p>
          <a:p>
            <a:r>
              <a:rPr dirty="0"/>
              <a:t>Barista workload spikes</a:t>
            </a:r>
            <a:r>
              <a:rPr lang="en-US" dirty="0"/>
              <a:t> from larger </a:t>
            </a:r>
            <a:r>
              <a:rPr lang="en-US" dirty="0" err="1"/>
              <a:t>queus</a:t>
            </a:r>
            <a:endParaRPr lang="en-US" dirty="0"/>
          </a:p>
          <a:p>
            <a:r>
              <a:rPr lang="en-US" dirty="0"/>
              <a:t>Paper-based system can have orders get lost</a:t>
            </a:r>
            <a:endParaRPr dirty="0"/>
          </a:p>
          <a:p>
            <a:r>
              <a:rPr lang="en-US" dirty="0"/>
              <a:t>Customers unsure where pick-up point is sometimes</a:t>
            </a:r>
            <a:endParaRPr dirty="0"/>
          </a:p>
          <a:p>
            <a:r>
              <a:rPr dirty="0"/>
              <a:t>Limited space behind barista station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Better display for customer order receival area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Easier access and handover of orders to customers</a:t>
            </a:r>
            <a:endParaRPr dirty="0"/>
          </a:p>
          <a:p>
            <a:r>
              <a:rPr dirty="0"/>
              <a:t>Add markings to maintain seating-path clearance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Less commotion between incoming and seated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Electronic order handling system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Less confusion and missing orders by eliminating handover of handwritten receipts between baristas and cashiers</a:t>
            </a:r>
          </a:p>
          <a:p>
            <a:pPr marL="457200" lvl="1" indent="0">
              <a:buNone/>
            </a:pP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Research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semi-structured interviews with baristas, cashiers, manager</a:t>
            </a:r>
          </a:p>
          <a:p>
            <a:r>
              <a:rPr dirty="0"/>
              <a:t>Observe peak vs non-peak workflow differences</a:t>
            </a:r>
          </a:p>
          <a:p>
            <a:r>
              <a:rPr dirty="0"/>
              <a:t>Collect customer feedback via brief intercept interviews</a:t>
            </a:r>
          </a:p>
          <a:p>
            <a:r>
              <a:rPr dirty="0"/>
              <a:t>Goal: understand workflow bottlenecks and pain points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Metadata/LabelInfo.xml><?xml version="1.0" encoding="utf-8"?>
<clbl:labelList xmlns:clbl="http://schemas.microsoft.com/office/2020/mipLabelMetadata">
  <clbl:label id="{d9088468-0951-4aef-9cc3-0a346e475ddc}" enabled="1" method="Privileged" siteId="{aca3c8d6-aa71-4e1a-a10e-03572fc58c0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74</TotalTime>
  <Words>363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Calisto MT</vt:lpstr>
      <vt:lpstr>Wingdings 2</vt:lpstr>
      <vt:lpstr>Slate</vt:lpstr>
      <vt:lpstr>Observation Peer Review Assignment Presentation</vt:lpstr>
      <vt:lpstr>Observation Details</vt:lpstr>
      <vt:lpstr>Players</vt:lpstr>
      <vt:lpstr>Location Overview</vt:lpstr>
      <vt:lpstr>Location Overview</vt:lpstr>
      <vt:lpstr>What’s the technology</vt:lpstr>
      <vt:lpstr>Process – Ordering a Drink (1)</vt:lpstr>
      <vt:lpstr>Process – Ordering a Drink (2)</vt:lpstr>
      <vt:lpstr>Challenges Observed</vt:lpstr>
      <vt:lpstr>Solutions</vt:lpstr>
      <vt:lpstr>Next Research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Kondri, Janos /HU</cp:lastModifiedBy>
  <cp:revision>5</cp:revision>
  <dcterms:created xsi:type="dcterms:W3CDTF">2013-01-27T09:14:16Z</dcterms:created>
  <dcterms:modified xsi:type="dcterms:W3CDTF">2026-01-23T14:56:53Z</dcterms:modified>
  <cp:category/>
</cp:coreProperties>
</file>