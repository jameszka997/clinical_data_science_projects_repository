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74" r:id="rId4"/>
    <p:sldId id="275" r:id="rId5"/>
    <p:sldId id="276" r:id="rId6"/>
    <p:sldId id="277" r:id="rId7"/>
    <p:sldId id="278" r:id="rId8"/>
    <p:sldId id="279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93"/>
    <p:restoredTop sz="94643"/>
  </p:normalViewPr>
  <p:slideViewPr>
    <p:cSldViewPr snapToGrid="0" snapToObjects="1">
      <p:cViewPr varScale="1">
        <p:scale>
          <a:sx n="111" d="100"/>
          <a:sy n="111" d="100"/>
        </p:scale>
        <p:origin x="11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9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4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1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9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1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9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7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2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26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13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00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60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93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15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EC9898-07BD-8B48-B9A9-D57151BAA00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2D424B-C247-7843-A231-D8647B8C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5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D553-22D6-F64B-9770-68EE25A65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Project – Course 4</a:t>
            </a:r>
            <a:br>
              <a:rPr lang="en-US" dirty="0"/>
            </a:br>
            <a:r>
              <a:rPr lang="en-US" sz="4400" dirty="0"/>
              <a:t>Identifying Patients with Diabetic Complications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47B27-CF00-B34C-A3F4-789D5019D0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Janos Kondri</a:t>
            </a:r>
          </a:p>
        </p:txBody>
      </p:sp>
    </p:spTree>
    <p:extLst>
      <p:ext uri="{BB962C8B-B14F-4D97-AF65-F5344CB8AC3E}">
        <p14:creationId xmlns:p14="http://schemas.microsoft.com/office/powerpoint/2010/main" val="27585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048B-E4E7-874B-9358-1016DFD8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7936-E789-5840-AF9A-6AA28890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3317" y="1437436"/>
            <a:ext cx="8512834" cy="51186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projects </a:t>
            </a:r>
            <a:r>
              <a:rPr lang="en-US" sz="2000" b="1" u="sng" dirty="0"/>
              <a:t>aim </a:t>
            </a:r>
            <a:r>
              <a:rPr lang="en-US" sz="2000" dirty="0"/>
              <a:t>was to identify diabetic complications from clinical text notes.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Data Source</a:t>
            </a:r>
            <a:r>
              <a:rPr lang="en-US" sz="2000" dirty="0"/>
              <a:t>: Clinical notes dataset of the Clinical Data Science course retrieved from </a:t>
            </a:r>
            <a:r>
              <a:rPr lang="en-US" sz="2000" u="sng" dirty="0"/>
              <a:t>Google </a:t>
            </a:r>
            <a:r>
              <a:rPr lang="en-US" sz="2000" u="sng" dirty="0" err="1"/>
              <a:t>BigQuery</a:t>
            </a:r>
            <a:endParaRPr lang="en-US" sz="2000" u="sng" dirty="0"/>
          </a:p>
          <a:p>
            <a:pPr>
              <a:lnSpc>
                <a:spcPct val="150000"/>
              </a:lnSpc>
            </a:pPr>
            <a:r>
              <a:rPr lang="en-US" sz="2000" b="1" dirty="0"/>
              <a:t>Diabetic complication keywords</a:t>
            </a:r>
            <a:r>
              <a:rPr lang="en-US" sz="2000" dirty="0"/>
              <a:t>: </a:t>
            </a:r>
            <a:r>
              <a:rPr lang="en-US" sz="2000" i="1" dirty="0"/>
              <a:t>Neuropathy, Nephropathy, Retinopathy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Project Involved</a:t>
            </a:r>
            <a:r>
              <a:rPr lang="en-US" sz="2000" dirty="0"/>
              <a:t>:</a:t>
            </a:r>
          </a:p>
          <a:p>
            <a:pPr lvl="1"/>
            <a:r>
              <a:rPr lang="en-US" sz="1600" dirty="0"/>
              <a:t>Applying text processing techniques </a:t>
            </a:r>
          </a:p>
          <a:p>
            <a:pPr lvl="1"/>
            <a:r>
              <a:rPr lang="en-US" sz="1600" dirty="0"/>
              <a:t>Regular expression generation and testing for the project</a:t>
            </a:r>
          </a:p>
          <a:p>
            <a:pPr lvl="1"/>
            <a:r>
              <a:rPr lang="en-US" sz="1600" dirty="0"/>
              <a:t>Identification algorithm performance assessment</a:t>
            </a:r>
          </a:p>
          <a:p>
            <a:endParaRPr lang="en-US" sz="1700" dirty="0"/>
          </a:p>
          <a:p>
            <a:r>
              <a:rPr lang="en-US" sz="1700" dirty="0"/>
              <a:t>Complication explanation</a:t>
            </a:r>
          </a:p>
          <a:p>
            <a:pPr lvl="1"/>
            <a:r>
              <a:rPr lang="en-US" sz="1300" dirty="0"/>
              <a:t>Neuropathy - &gt; Nerve Damage</a:t>
            </a:r>
          </a:p>
          <a:p>
            <a:pPr lvl="1"/>
            <a:r>
              <a:rPr lang="en-US" sz="1300" dirty="0"/>
              <a:t>Nephropathy - &gt; Kidney damage</a:t>
            </a:r>
          </a:p>
          <a:p>
            <a:pPr lvl="1"/>
            <a:r>
              <a:rPr lang="en-US" sz="1300" dirty="0"/>
              <a:t>Retinopathy - &gt; Retina damage</a:t>
            </a:r>
          </a:p>
        </p:txBody>
      </p:sp>
    </p:spTree>
    <p:extLst>
      <p:ext uri="{BB962C8B-B14F-4D97-AF65-F5344CB8AC3E}">
        <p14:creationId xmlns:p14="http://schemas.microsoft.com/office/powerpoint/2010/main" val="329170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2C5E-3CE7-00D4-8B08-14B795B9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8F34-40DC-7D6B-70A4-1E1EA029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E8F5-82D9-3982-8A17-D7BF3FE0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790" y="1804358"/>
            <a:ext cx="8512834" cy="37352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Past medical history Section headings</a:t>
            </a:r>
          </a:p>
          <a:p>
            <a:pPr lvl="1"/>
            <a:r>
              <a:rPr lang="en-US" sz="1800" dirty="0"/>
              <a:t>Read 10 records, tried regex, reviewed 10 more records that didn’t match, tried regex, read 20 records and realized that I wasn’t finding a lot of new headers and quit.</a:t>
            </a:r>
          </a:p>
          <a:p>
            <a:pPr lvl="2"/>
            <a:r>
              <a:rPr lang="en-US" sz="1600" dirty="0"/>
              <a:t>Past Medical History</a:t>
            </a:r>
          </a:p>
          <a:p>
            <a:pPr lvl="2"/>
            <a:r>
              <a:rPr lang="en-US" sz="1600" dirty="0"/>
              <a:t>Past Medical/Surgical History</a:t>
            </a:r>
          </a:p>
          <a:p>
            <a:pPr lvl="2"/>
            <a:r>
              <a:rPr lang="en-US" sz="1600" dirty="0"/>
              <a:t>Previous Medical History</a:t>
            </a:r>
          </a:p>
          <a:p>
            <a:pPr lvl="2"/>
            <a:r>
              <a:rPr lang="en-US" sz="1600" dirty="0"/>
              <a:t>Also tried PMH (didn’t add value)</a:t>
            </a:r>
          </a:p>
        </p:txBody>
      </p:sp>
    </p:spTree>
    <p:extLst>
      <p:ext uri="{BB962C8B-B14F-4D97-AF65-F5344CB8AC3E}">
        <p14:creationId xmlns:p14="http://schemas.microsoft.com/office/powerpoint/2010/main" val="400539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181D-B74E-9E4B-593E-7C4C4519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FC1B-1E1D-1E7F-15C4-37121373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2B00-6F99-FC22-C932-97E00F116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790" y="1804359"/>
            <a:ext cx="8512834" cy="175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Next section header</a:t>
            </a:r>
          </a:p>
          <a:p>
            <a:pPr lvl="1"/>
            <a:r>
              <a:rPr lang="en-US" dirty="0"/>
              <a:t>Read 10 records, tried regex, review 45 more, extended regex, skimmed remainder of records to confirm no large chunks of text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1B8104-170D-ADB1-A8F4-9A6B5CECD8B6}"/>
              </a:ext>
            </a:extLst>
          </p:cNvPr>
          <p:cNvSpPr txBox="1">
            <a:spLocks/>
          </p:cNvSpPr>
          <p:nvPr/>
        </p:nvSpPr>
        <p:spPr>
          <a:xfrm>
            <a:off x="1839583" y="4087483"/>
            <a:ext cx="8512834" cy="1752600"/>
          </a:xfrm>
          <a:prstGeom prst="rect">
            <a:avLst/>
          </a:prstGeom>
        </p:spPr>
        <p:txBody>
          <a:bodyPr vert="horz" lIns="91440" tIns="45720" rIns="91440" bIns="45720" numCol="2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US" sz="1400" dirty="0"/>
              <a:t>Social History:</a:t>
            </a:r>
          </a:p>
          <a:p>
            <a:pPr marL="914400" lvl="2" indent="0">
              <a:buNone/>
            </a:pPr>
            <a:r>
              <a:rPr lang="en-US" sz="1400" dirty="0"/>
              <a:t>Past surgical history:</a:t>
            </a:r>
          </a:p>
          <a:p>
            <a:pPr marL="914400" lvl="2" indent="0">
              <a:buNone/>
            </a:pPr>
            <a:r>
              <a:rPr lang="en-US" sz="1400" dirty="0"/>
              <a:t>Allergies:</a:t>
            </a:r>
          </a:p>
          <a:p>
            <a:pPr marL="914400" lvl="2" indent="0">
              <a:buNone/>
            </a:pPr>
            <a:r>
              <a:rPr lang="en-US" sz="1400" dirty="0"/>
              <a:t>MEDICATIONS ON ADMISSION:</a:t>
            </a:r>
          </a:p>
          <a:p>
            <a:pPr marL="914400" lvl="2" indent="0">
              <a:buNone/>
            </a:pPr>
            <a:r>
              <a:rPr lang="en-US" sz="1400" dirty="0"/>
              <a:t>PHYSICAL EXAMINATION:’</a:t>
            </a:r>
          </a:p>
          <a:p>
            <a:pPr marL="914400" lvl="2" indent="0">
              <a:buNone/>
            </a:pPr>
            <a:r>
              <a:rPr lang="en-US" sz="1400" dirty="0"/>
              <a:t>FAMILY HISTORY:</a:t>
            </a:r>
          </a:p>
          <a:p>
            <a:pPr marL="914400" lvl="2" indent="0">
              <a:buNone/>
            </a:pPr>
            <a:r>
              <a:rPr lang="en-US" sz="1400" dirty="0"/>
              <a:t>current medications:</a:t>
            </a:r>
          </a:p>
          <a:p>
            <a:pPr marL="914400" lvl="2" indent="0">
              <a:buNone/>
            </a:pPr>
            <a:r>
              <a:rPr lang="en-US" sz="1400" dirty="0"/>
              <a:t>Medications:</a:t>
            </a:r>
          </a:p>
          <a:p>
            <a:pPr marL="914400" lvl="2" indent="0">
              <a:buNone/>
            </a:pPr>
            <a:r>
              <a:rPr lang="en-US" sz="1400" dirty="0"/>
              <a:t>CURRENT MEDICATION ON ADMISSION:</a:t>
            </a:r>
          </a:p>
          <a:p>
            <a:pPr marL="914400" lvl="2" indent="0">
              <a:buNone/>
            </a:pPr>
            <a:r>
              <a:rPr lang="en-US" sz="1400" dirty="0"/>
              <a:t>admission medications:</a:t>
            </a:r>
          </a:p>
          <a:p>
            <a:pPr marL="914400" lvl="2" indent="0">
              <a:buNone/>
            </a:pPr>
            <a:r>
              <a:rPr lang="en-US" sz="1400" dirty="0"/>
              <a:t>PHYSICAL EXAMINATION ON ADMISSION:</a:t>
            </a:r>
          </a:p>
          <a:p>
            <a:pPr marL="914400" lvl="2" indent="0">
              <a:buNone/>
            </a:pPr>
            <a:r>
              <a:rPr lang="en-US" sz="1400" dirty="0"/>
              <a:t>PHYSICAL EXAM upon admission:</a:t>
            </a:r>
          </a:p>
          <a:p>
            <a:pPr marL="914400" lvl="2" indent="0">
              <a:buNone/>
            </a:pPr>
            <a:r>
              <a:rPr lang="en-US" sz="1400" dirty="0"/>
              <a:t>Physical Exam:</a:t>
            </a:r>
          </a:p>
          <a:p>
            <a:pPr marL="914400" lvl="2" indent="0">
              <a:buNone/>
            </a:pPr>
            <a:r>
              <a:rPr lang="en-US" sz="1400" dirty="0"/>
              <a:t>BRIEF SUMMARY OF HOSPITAL COURSE:</a:t>
            </a:r>
          </a:p>
          <a:p>
            <a:pPr marL="914400" lvl="2" indent="0">
              <a:buNone/>
            </a:pPr>
            <a:r>
              <a:rPr lang="en-US" sz="1400" dirty="0"/>
              <a:t>HOSPITAL COURSE:</a:t>
            </a:r>
          </a:p>
          <a:p>
            <a:pPr marL="914400" lvl="2" indent="0">
              <a:buNone/>
            </a:pPr>
            <a:r>
              <a:rPr lang="en-US" sz="1400" dirty="0"/>
              <a:t>LABORATORY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571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DBC1-F0AB-2249-7931-A9781B5D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BED0-362C-C630-17FE-380E6563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7B038-D543-2BCB-1061-41C1FABF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790" y="2313318"/>
            <a:ext cx="8512834" cy="175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Looked at different stems of hypertension (-hyper-) and (-</a:t>
            </a:r>
            <a:r>
              <a:rPr lang="en-US" dirty="0" err="1"/>
              <a:t>htn</a:t>
            </a:r>
            <a:r>
              <a:rPr lang="en-US" dirty="0"/>
              <a:t>-) to make sure I wouldn’t miss any keyword (or have off topic matching) for my two outcome keywords – “hypertension” and “</a:t>
            </a:r>
            <a:r>
              <a:rPr lang="en-US" dirty="0" err="1"/>
              <a:t>htn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6FAA-9A39-58DC-559A-29E3A293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EE64-68BB-48D9-4D8D-EDABFCDA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4A9C-D9F9-AD87-92E2-35DC010A1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6936" y="3213342"/>
            <a:ext cx="8512834" cy="1752600"/>
          </a:xfrm>
        </p:spPr>
        <p:txBody>
          <a:bodyPr>
            <a:noAutofit/>
          </a:bodyPr>
          <a:lstStyle/>
          <a:p>
            <a:r>
              <a:rPr lang="en-US" sz="1600" dirty="0"/>
              <a:t>physical exam(</a:t>
            </a:r>
            <a:r>
              <a:rPr lang="en-US" sz="1600" dirty="0" err="1"/>
              <a:t>ination</a:t>
            </a:r>
            <a:r>
              <a:rPr lang="en-US" sz="1600" dirty="0"/>
              <a:t>)?( (up)?on admission)?:.*</a:t>
            </a:r>
          </a:p>
          <a:p>
            <a:r>
              <a:rPr lang="en-US" sz="1600" dirty="0"/>
              <a:t>This minimally matches “physical exam:”</a:t>
            </a:r>
          </a:p>
          <a:p>
            <a:pPr lvl="1"/>
            <a:r>
              <a:rPr lang="en-US" sz="1400" dirty="0"/>
              <a:t>It then can include “</a:t>
            </a:r>
            <a:r>
              <a:rPr lang="en-US" sz="1400" dirty="0" err="1"/>
              <a:t>ination</a:t>
            </a:r>
            <a:r>
              <a:rPr lang="en-US" sz="1400" dirty="0"/>
              <a:t>” (zero or 1 times) e.g., physical examination:</a:t>
            </a:r>
          </a:p>
          <a:p>
            <a:pPr lvl="1"/>
            <a:r>
              <a:rPr lang="en-US" sz="1400" dirty="0"/>
              <a:t>It can also include either:</a:t>
            </a:r>
          </a:p>
          <a:p>
            <a:pPr lvl="2"/>
            <a:r>
              <a:rPr lang="en-US" sz="1400" dirty="0"/>
              <a:t>“ upon admission:” (zero or 1 times) or </a:t>
            </a:r>
          </a:p>
          <a:p>
            <a:pPr lvl="2"/>
            <a:r>
              <a:rPr lang="en-US" sz="1400" dirty="0"/>
              <a:t>“ on admission:” (zero or 1 times) </a:t>
            </a:r>
          </a:p>
          <a:p>
            <a:r>
              <a:rPr lang="en-US" sz="1600" dirty="0"/>
              <a:t>Overall could match:</a:t>
            </a:r>
          </a:p>
          <a:p>
            <a:pPr lvl="1"/>
            <a:r>
              <a:rPr lang="en-US" sz="1400" dirty="0"/>
              <a:t>Physical exam:</a:t>
            </a:r>
          </a:p>
          <a:p>
            <a:pPr lvl="1"/>
            <a:r>
              <a:rPr lang="en-US" sz="1400" dirty="0"/>
              <a:t>Physical examination:</a:t>
            </a:r>
          </a:p>
          <a:p>
            <a:pPr lvl="1"/>
            <a:r>
              <a:rPr lang="en-US" sz="1400" dirty="0"/>
              <a:t>Physical exam upon admission:</a:t>
            </a:r>
          </a:p>
          <a:p>
            <a:pPr lvl="1"/>
            <a:r>
              <a:rPr lang="en-US" sz="1400" dirty="0"/>
              <a:t>Physical exam on admission:</a:t>
            </a:r>
          </a:p>
          <a:p>
            <a:pPr lvl="1"/>
            <a:r>
              <a:rPr lang="en-US" sz="1400" dirty="0"/>
              <a:t>Physical examination upon admission:</a:t>
            </a:r>
          </a:p>
          <a:p>
            <a:pPr lvl="1"/>
            <a:r>
              <a:rPr lang="en-US" sz="1400" dirty="0"/>
              <a:t>Physical examination on admission: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6273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4888-4832-92D0-DE5E-4F0F22B2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D862-0C0D-D291-B016-4353F6D4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BBCD6-22DE-F5B4-D39E-8CF17C9E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363" y="2337042"/>
            <a:ext cx="8512834" cy="1752600"/>
          </a:xfrm>
        </p:spPr>
        <p:txBody>
          <a:bodyPr>
            <a:noAutofit/>
          </a:bodyPr>
          <a:lstStyle/>
          <a:p>
            <a:r>
              <a:rPr lang="en-US" dirty="0"/>
              <a:t>I was able to extract past medical history section for 436 notes</a:t>
            </a:r>
          </a:p>
          <a:p>
            <a:pPr lvl="1"/>
            <a:r>
              <a:rPr lang="en-US" dirty="0"/>
              <a:t>224 had hypertension listed</a:t>
            </a:r>
          </a:p>
          <a:p>
            <a:pPr lvl="1"/>
            <a:r>
              <a:rPr lang="en-US" dirty="0"/>
              <a:t>212 did not</a:t>
            </a:r>
          </a:p>
          <a:p>
            <a:r>
              <a:rPr lang="en-US" dirty="0"/>
              <a:t>There were 128 notes that I could not extract past medical history section from.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345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98AC-02FD-3BB2-479E-FF4C7CCE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84D2-28A3-7F43-FF37-0629E73B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36" y="0"/>
            <a:ext cx="7931688" cy="1752599"/>
          </a:xfrm>
        </p:spPr>
        <p:txBody>
          <a:bodyPr/>
          <a:lstStyle/>
          <a:p>
            <a:pPr algn="l"/>
            <a:r>
              <a:rPr lang="en-US" b="1" u="sng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B4CC2-0F05-71D8-3032-4F83F3AB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363" y="2699351"/>
            <a:ext cx="8512834" cy="1752600"/>
          </a:xfrm>
        </p:spPr>
        <p:txBody>
          <a:bodyPr>
            <a:noAutofit/>
          </a:bodyPr>
          <a:lstStyle/>
          <a:p>
            <a:r>
              <a:rPr lang="en-US" dirty="0"/>
              <a:t>Of the notes I could not classify – a number of them did not have any past medical history information available. The patient was unconscious or coming from another site and unable to provide a history. </a:t>
            </a:r>
          </a:p>
          <a:p>
            <a:pPr lvl="1"/>
            <a:r>
              <a:rPr lang="en-US" dirty="0"/>
              <a:t>I would likely have to manually review these records.</a:t>
            </a:r>
          </a:p>
          <a:p>
            <a:r>
              <a:rPr lang="en-US" dirty="0"/>
              <a:t>Others had past medical history in the “history of present illness” section. </a:t>
            </a:r>
          </a:p>
          <a:p>
            <a:pPr lvl="1"/>
            <a:r>
              <a:rPr lang="en-US" dirty="0"/>
              <a:t>I could try window strategies around hypertension to find these records.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6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A0BF-58A2-914A-8051-9D55359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663A5-3CCA-4748-A688-20C3DEF8D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 the notes I could not classify – a number of them did not have any past medical history information available. The patient was unconscious or coming from another site and unable to provide a history. </a:t>
            </a:r>
          </a:p>
          <a:p>
            <a:pPr lvl="1"/>
            <a:r>
              <a:rPr lang="en-US" dirty="0"/>
              <a:t>I would likely have to manually review these records.</a:t>
            </a:r>
          </a:p>
          <a:p>
            <a:r>
              <a:rPr lang="en-US" dirty="0"/>
              <a:t>Others had past medical history in the “history of present illness” section. </a:t>
            </a:r>
          </a:p>
          <a:p>
            <a:pPr lvl="1"/>
            <a:r>
              <a:rPr lang="en-US" dirty="0"/>
              <a:t>I could try window strategies around hypertension to find these records. </a:t>
            </a:r>
          </a:p>
        </p:txBody>
      </p:sp>
    </p:spTree>
    <p:extLst>
      <p:ext uri="{BB962C8B-B14F-4D97-AF65-F5344CB8AC3E}">
        <p14:creationId xmlns:p14="http://schemas.microsoft.com/office/powerpoint/2010/main" val="2633654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Metadata/LabelInfo.xml><?xml version="1.0" encoding="utf-8"?>
<clbl:labelList xmlns:clbl="http://schemas.microsoft.com/office/2020/mipLabelMetadata">
  <clbl:label id="{d9088468-0951-4aef-9cc3-0a346e475ddc}" enabled="1" method="Privileged" siteId="{aca3c8d6-aa71-4e1a-a10e-03572fc58c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1500</TotalTime>
  <Words>561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Project – Course 4 Identifying Patients with Diabetic Complications</vt:lpstr>
      <vt:lpstr>Introduction to the Project</vt:lpstr>
      <vt:lpstr>Approach</vt:lpstr>
      <vt:lpstr>Approach</vt:lpstr>
      <vt:lpstr>Approach</vt:lpstr>
      <vt:lpstr>Regular Expression</vt:lpstr>
      <vt:lpstr>Performance</vt:lpstr>
      <vt:lpstr>Reflection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Wiley, Laura</dc:creator>
  <cp:lastModifiedBy>Kondri, Janos /HU</cp:lastModifiedBy>
  <cp:revision>16</cp:revision>
  <dcterms:created xsi:type="dcterms:W3CDTF">2018-03-02T05:37:34Z</dcterms:created>
  <dcterms:modified xsi:type="dcterms:W3CDTF">2026-01-19T14:39:35Z</dcterms:modified>
</cp:coreProperties>
</file>